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698480" y="-137160"/>
            <a:ext cx="1737360" cy="1737360"/>
          </a:xfrm>
          <a:prstGeom prst="rtTriangl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28632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84664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0696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8632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84664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0696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6728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28632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84664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0696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6728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411480" y="5989320"/>
            <a:ext cx="1051560" cy="1051560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" y="6355080"/>
            <a:ext cx="320040" cy="32004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1828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83879" y="1051560"/>
            <a:ext cx="2240280" cy="2240280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85632" y="1353312"/>
            <a:ext cx="1645920" cy="164592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759952" y="1627632"/>
            <a:ext cx="1097280" cy="1097280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818120" y="685800"/>
            <a:ext cx="2971800" cy="2971800"/>
          </a:xfrm>
          <a:prstGeom prst="ellipse">
            <a:avLst/>
          </a:prstGeom>
          <a:noFill/>
          <a:ln w="25400"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543800" y="411480"/>
            <a:ext cx="3520440" cy="3520440"/>
          </a:xfrm>
          <a:prstGeom prst="ellipse">
            <a:avLst/>
          </a:prstGeom>
          <a:noFill/>
          <a:ln w="25400"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1D3FF"/>
                </a:solidFill>
                <a:latin typeface="Aptos"/>
              </a:defRPr>
            </a:pPr>
            <a:r>
              <a:t>SAMSUNG PRISM Y2026 • GENAI HACKATHON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1051560"/>
            <a:ext cx="7223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7F9FF"/>
                </a:solidFill>
                <a:latin typeface="Aptos"/>
              </a:defRPr>
            </a:pPr>
            <a:r>
              <a:t>STREAMING</a:t>
            </a:r>
            <a:br/>
            <a:r>
              <a:t>LIVE RAG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65176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AAB8D2"/>
                </a:solidFill>
                <a:latin typeface="Aptos"/>
              </a:defRPr>
            </a:pPr>
            <a:r>
              <a:t>A live, session-aware RAG system that retrieves early,</a:t>
            </a:r>
            <a:br/>
            <a:r>
              <a:t>handles multiple intents, and refines answers as context arrives.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657600"/>
            <a:ext cx="1508760" cy="310896"/>
          </a:xfrm>
          <a:prstGeom prst="roundRect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3671315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7F9FF"/>
                </a:solidFill>
                <a:latin typeface="Aptos"/>
              </a:defRPr>
            </a:pPr>
            <a:r>
              <a:t>THEME 04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04288" y="3657600"/>
            <a:ext cx="2057400" cy="310896"/>
          </a:xfrm>
          <a:prstGeom prst="roundRect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04288" y="3671315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LIVE RETRIEVAL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62272" y="3657600"/>
            <a:ext cx="2057400" cy="310896"/>
          </a:xfrm>
          <a:prstGeom prst="roundRect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62272" y="3671315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GROUNDED 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572000"/>
            <a:ext cx="562356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" y="47365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1D3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0292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7F9FF"/>
                </a:solidFill>
                <a:latin typeface="Aptos"/>
              </a:defRPr>
            </a:pPr>
            <a:r>
              <a:t>Aayush Makkar  •  1MS24CS004</a:t>
            </a:r>
            <a:br/>
            <a:r>
              <a:t>Bhoomie Bhasin  •  1MS24CS050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3434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AB8D2"/>
                </a:solidFill>
                <a:latin typeface="Aptos"/>
              </a:defRPr>
            </a:pPr>
            <a:r>
              <a:t>ONE UTTERANCE → MANY SIGNALS</a:t>
            </a:r>
          </a:p>
        </p:txBody>
      </p:sp>
      <p:sp>
        <p:nvSpPr>
          <p:cNvPr id="56" name="Oval 55"/>
          <p:cNvSpPr/>
          <p:nvPr/>
        </p:nvSpPr>
        <p:spPr>
          <a:xfrm>
            <a:off x="7315200" y="4800600"/>
            <a:ext cx="502920" cy="502920"/>
          </a:xfrm>
          <a:prstGeom prst="ellipse">
            <a:avLst/>
          </a:prstGeom>
          <a:solidFill>
            <a:srgbClr val="FFD652"/>
          </a:solidFill>
          <a:ln>
            <a:solidFill>
              <a:srgbClr val="FFD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69480" y="537667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D652"/>
                </a:solidFill>
                <a:latin typeface="Aptos"/>
              </a:defRPr>
            </a:pPr>
            <a:r>
              <a:t>WAIT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845552" y="5047488"/>
            <a:ext cx="813816" cy="0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732520" y="4800600"/>
            <a:ext cx="502920" cy="50292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0" y="537667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1D3FF"/>
                </a:solidFill>
                <a:latin typeface="Aptos"/>
              </a:defRPr>
            </a:pPr>
            <a:r>
              <a:t>RETRIEVE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262872" y="5047488"/>
            <a:ext cx="813816" cy="0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149840" y="4800600"/>
            <a:ext cx="502920" cy="502920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04119" y="537667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4DD97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35640" y="64739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AB8D2"/>
                </a:solidFill>
                <a:latin typeface="Apto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698480" y="-137160"/>
            <a:ext cx="1737360" cy="1737360"/>
          </a:xfrm>
          <a:prstGeom prst="rtTriangl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28632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84664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0696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8632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84664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0696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6728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28632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84664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0696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6728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411480" y="5989320"/>
            <a:ext cx="1051560" cy="1051560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" y="6355080"/>
            <a:ext cx="320040" cy="32004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1828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1D3FF"/>
                </a:solidFill>
                <a:latin typeface="Aptos"/>
              </a:defRPr>
            </a:pPr>
            <a:r>
              <a:t>01 • WHY THIS EXISTS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7F9FF"/>
                </a:solidFill>
                <a:latin typeface="Aptos"/>
              </a:defRPr>
            </a:pPr>
            <a:r>
              <a:t>The problem: live requests are not static queries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12344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8D2"/>
                </a:solidFill>
                <a:latin typeface="Aptos"/>
              </a:defRPr>
            </a:pPr>
            <a:r>
              <a:t>Streaming conversation creates uncertainty, multiple intents, and late-arriving context.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1828800"/>
            <a:ext cx="6583680" cy="406908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205740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F9FF"/>
                </a:solidFill>
                <a:latin typeface="Aptos"/>
              </a:defRPr>
            </a:pPr>
            <a:r>
              <a:t>A USER DOESN'T SPEAK IN PERFECT SEARCH QUERIES</a:t>
            </a:r>
          </a:p>
        </p:txBody>
      </p:sp>
      <p:sp>
        <p:nvSpPr>
          <p:cNvPr id="43" name="Oval 42"/>
          <p:cNvSpPr/>
          <p:nvPr/>
        </p:nvSpPr>
        <p:spPr>
          <a:xfrm>
            <a:off x="914400" y="2651760"/>
            <a:ext cx="384048" cy="384048"/>
          </a:xfrm>
          <a:prstGeom prst="ellipse">
            <a:avLst/>
          </a:prstGeom>
          <a:solidFill>
            <a:srgbClr val="FFD652"/>
          </a:solidFill>
          <a:ln>
            <a:solidFill>
              <a:srgbClr val="FFD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17320" y="2633472"/>
            <a:ext cx="4160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“Tell me about…”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0" y="2670048"/>
            <a:ext cx="1325880" cy="310896"/>
          </a:xfrm>
          <a:prstGeom prst="roundRect">
            <a:avLst/>
          </a:prstGeom>
          <a:solidFill>
            <a:srgbClr val="FFD652"/>
          </a:solidFill>
          <a:ln>
            <a:solidFill>
              <a:srgbClr val="FFD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0" y="2683764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INCOMPLETE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06424" y="3081528"/>
            <a:ext cx="0" cy="320040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14400" y="3520439"/>
            <a:ext cx="384048" cy="3840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17320" y="3502151"/>
            <a:ext cx="4160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“…FAISS and multi-intent decomposition.”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0" y="3538727"/>
            <a:ext cx="1325880" cy="310896"/>
          </a:xfrm>
          <a:prstGeom prst="roundRect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0" y="3552444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ENOUGH TO RETRIEVE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06424" y="3950207"/>
            <a:ext cx="0" cy="320041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914400" y="4389120"/>
            <a:ext cx="384048" cy="3840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17320" y="4370832"/>
            <a:ext cx="4160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“Actually, explain the RAG part too.”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0" y="4407407"/>
            <a:ext cx="1325880" cy="310896"/>
          </a:xfrm>
          <a:prstGeom prst="roundRect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0" y="4421123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52360" y="1828800"/>
            <a:ext cx="41148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653528" y="2057400"/>
            <a:ext cx="502920" cy="50292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53528" y="212140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199339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1D3FF"/>
                </a:solidFill>
                <a:latin typeface="Aptos"/>
              </a:defRPr>
            </a:pPr>
            <a:r>
              <a:t>WHEN TO RETRIEVE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7F9FF"/>
                </a:solidFill>
                <a:latin typeface="Aptos"/>
              </a:defRPr>
            </a:pPr>
            <a:r>
              <a:t>Don't wait for the perfect final sentence.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52360" y="3182112"/>
            <a:ext cx="41148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653528" y="3410712"/>
            <a:ext cx="502920" cy="502920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53528" y="34747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3346704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15BFF"/>
                </a:solidFill>
                <a:latin typeface="Aptos"/>
              </a:defRPr>
            </a:pPr>
            <a:r>
              <a:t>WHAT TO RETRIEVE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366674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7F9FF"/>
                </a:solidFill>
                <a:latin typeface="Aptos"/>
              </a:defRPr>
            </a:pPr>
            <a:r>
              <a:t>One utterance can hide several distinct questions.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52360" y="4535424"/>
            <a:ext cx="41148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653528" y="4764024"/>
            <a:ext cx="502920" cy="502920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53528" y="48280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4700016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4DD97"/>
                </a:solidFill>
                <a:latin typeface="Aptos"/>
              </a:defRPr>
            </a:pPr>
            <a:r>
              <a:t>HOW TO RESPOND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0200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7F9FF"/>
                </a:solidFill>
                <a:latin typeface="Aptos"/>
              </a:defRPr>
            </a:pPr>
            <a:r>
              <a:t>New detail should sharpen the current answer.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35640" y="64739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AB8D2"/>
                </a:solidFill>
                <a:latin typeface="Aptos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698480" y="-137160"/>
            <a:ext cx="1737360" cy="1737360"/>
          </a:xfrm>
          <a:prstGeom prst="rtTriangl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2560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28632" y="2560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84664" y="2560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0696" y="2560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2560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4846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8632" y="4846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84664" y="4846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0696" y="4846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6728" y="4846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7132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28632" y="7132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84664" y="7132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0696" y="7132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6728" y="713232"/>
            <a:ext cx="41148" cy="4114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411480" y="5989320"/>
            <a:ext cx="1051560" cy="105156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" y="6355080"/>
            <a:ext cx="320040" cy="32004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1828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1D3FF"/>
                </a:solidFill>
                <a:latin typeface="Aptos"/>
              </a:defRPr>
            </a:pPr>
            <a:r>
              <a:t>02 • SYSTEM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7F9FF"/>
                </a:solidFill>
                <a:latin typeface="Aptos"/>
              </a:defRPr>
            </a:pPr>
            <a:r>
              <a:t>From transcript stream to grounded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12344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8D2"/>
                </a:solidFill>
                <a:latin typeface="Aptos"/>
              </a:defRPr>
            </a:pPr>
            <a:r>
              <a:t>A compact pipeline keeps control, retrieval, synthesis, and session state explicit.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2240280"/>
            <a:ext cx="16002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0080" y="2368296"/>
            <a:ext cx="868680" cy="310896"/>
          </a:xfrm>
          <a:prstGeom prst="roundRect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23820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TRANSCRIPT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807208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7F9FF"/>
                </a:solidFill>
                <a:latin typeface="Aptos"/>
              </a:defRPr>
            </a:pPr>
            <a:r>
              <a:t>Live chunks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2240280"/>
            <a:ext cx="16002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468879" y="2368296"/>
            <a:ext cx="868680" cy="310896"/>
          </a:xfrm>
          <a:prstGeom prst="roundRect">
            <a:avLst/>
          </a:prstGeom>
          <a:solidFill>
            <a:srgbClr val="FFD652"/>
          </a:solidFill>
          <a:ln>
            <a:solidFill>
              <a:srgbClr val="FFD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68879" y="23820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79" y="2807208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7F9FF"/>
                </a:solidFill>
                <a:latin typeface="Aptos"/>
              </a:defRPr>
            </a:pPr>
            <a:r>
              <a:t>WAIT / RETRIEVE</a:t>
            </a:r>
            <a:br/>
            <a:r>
              <a:t>/ SUPPRESS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60520" y="2240280"/>
            <a:ext cx="16002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297680" y="2368296"/>
            <a:ext cx="868680" cy="310896"/>
          </a:xfrm>
          <a:prstGeom prst="roundRect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97680" y="23820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DECOMPOSER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2807208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7F9FF"/>
                </a:solidFill>
                <a:latin typeface="Aptos"/>
              </a:defRPr>
            </a:pPr>
            <a:r>
              <a:t>Split intents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2240280"/>
            <a:ext cx="16002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126480" y="2368296"/>
            <a:ext cx="868680" cy="310896"/>
          </a:xfrm>
          <a:prstGeom prst="roundRect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6480" y="23820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FAISS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2807208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7F9FF"/>
                </a:solidFill>
                <a:latin typeface="Aptos"/>
              </a:defRPr>
            </a:pPr>
            <a:r>
              <a:t>Retrieve</a:t>
            </a:r>
            <a:br/>
            <a:r>
              <a:t>per query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18120" y="2240280"/>
            <a:ext cx="16002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955280" y="2368296"/>
            <a:ext cx="868680" cy="310896"/>
          </a:xfrm>
          <a:prstGeom prst="roundRect">
            <a:avLst/>
          </a:prstGeom>
          <a:solidFill>
            <a:srgbClr val="FF4B97"/>
          </a:solidFill>
          <a:ln>
            <a:solidFill>
              <a:srgbClr val="FF4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55280" y="23820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FUSION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0" y="2807208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7F9FF"/>
                </a:solidFill>
                <a:latin typeface="Aptos"/>
              </a:defRPr>
            </a:pPr>
            <a:r>
              <a:t>Merge evidence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46920" y="2240280"/>
            <a:ext cx="1600200" cy="1143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784080" y="2368296"/>
            <a:ext cx="868680" cy="310896"/>
          </a:xfrm>
          <a:prstGeom prst="roundRect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784080" y="2382012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GROQ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2807208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7F9FF"/>
                </a:solidFill>
                <a:latin typeface="Aptos"/>
              </a:defRPr>
            </a:pPr>
            <a:r>
              <a:t>Grounded</a:t>
            </a:r>
            <a:br/>
            <a:r>
              <a:t>answer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139696" y="2816352"/>
            <a:ext cx="155448" cy="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968496" y="2816352"/>
            <a:ext cx="155448" cy="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97296" y="2816352"/>
            <a:ext cx="155448" cy="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626096" y="2816352"/>
            <a:ext cx="155448" cy="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454896" y="2816352"/>
            <a:ext cx="155448" cy="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920240" y="4160520"/>
            <a:ext cx="8183879" cy="1234440"/>
          </a:xfrm>
          <a:prstGeom prst="roundRect">
            <a:avLst/>
          </a:prstGeom>
          <a:solidFill>
            <a:srgbClr val="111E37"/>
          </a:solidFill>
          <a:ln>
            <a:solidFill>
              <a:srgbClr val="4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194560" y="437083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4DD97"/>
                </a:solidFill>
                <a:latin typeface="Aptos"/>
              </a:defRPr>
            </a:pPr>
            <a:r>
              <a:t>SESSION MEMORY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03320" y="4325112"/>
            <a:ext cx="5989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F9FF"/>
                </a:solidFill>
                <a:latin typeface="Aptos"/>
              </a:defRPr>
            </a:pPr>
            <a:r>
              <a:t>Previous answer + intents + details → reused when new context arrives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" y="5760720"/>
            <a:ext cx="1371600" cy="310896"/>
          </a:xfrm>
          <a:prstGeom prst="roundRect">
            <a:avLst/>
          </a:prstGeom>
          <a:solidFill>
            <a:srgbClr val="FF4B97"/>
          </a:solidFill>
          <a:ln>
            <a:solidFill>
              <a:srgbClr val="FF4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8368" y="5774436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7F9FF"/>
                </a:solidFill>
                <a:latin typeface="Aptos"/>
              </a:defRPr>
            </a:pPr>
            <a:r>
              <a:t>TELEMETRY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40280" y="578815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AB8D2"/>
                </a:solidFill>
                <a:latin typeface="Aptos"/>
              </a:defRPr>
            </a:pPr>
            <a:r>
              <a:t>controller • decomposition • retrieval latency • evidence • answer version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35640" y="64739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AB8D2"/>
                </a:solidFill>
                <a:latin typeface="Aptos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698480" y="-137160"/>
            <a:ext cx="1737360" cy="1737360"/>
          </a:xfrm>
          <a:prstGeom prst="rtTriangl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28632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84664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0696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2560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8632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84664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0696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6728" y="4846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28632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84664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0696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6728" y="713232"/>
            <a:ext cx="41148" cy="41148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411480" y="5989320"/>
            <a:ext cx="1051560" cy="1051560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" y="6355080"/>
            <a:ext cx="320040" cy="32004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1828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1D3FF"/>
                </a:solidFill>
                <a:latin typeface="Aptos"/>
              </a:defRPr>
            </a:pPr>
            <a:r>
              <a:t>03 • LIVE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7F9FF"/>
                </a:solidFill>
                <a:latin typeface="Aptos"/>
              </a:defRPr>
            </a:pPr>
            <a:r>
              <a:t>Three controller states. One continuous experience.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12344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8D2"/>
                </a:solidFill>
                <a:latin typeface="Aptos"/>
              </a:defRPr>
            </a:pPr>
            <a:r>
              <a:t>The prototype turns the hackathon behavior into an observable UI flow.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1828800"/>
            <a:ext cx="3474720" cy="3429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0392" y="2084832"/>
            <a:ext cx="566928" cy="566928"/>
          </a:xfrm>
          <a:prstGeom prst="ellipse">
            <a:avLst/>
          </a:prstGeom>
          <a:solidFill>
            <a:srgbClr val="FFD652"/>
          </a:solidFill>
          <a:ln>
            <a:solidFill>
              <a:srgbClr val="FFD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2194560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0D1B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2148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D652"/>
                </a:solidFill>
                <a:latin typeface="Aptos"/>
              </a:defRPr>
            </a:pPr>
            <a:r>
              <a:t>WAIT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2926080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AB8D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3246120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Tell me about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096512"/>
            <a:ext cx="2926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8D2"/>
                </a:solidFill>
                <a:latin typeface="Aptos"/>
              </a:defRPr>
            </a:pPr>
            <a:r>
              <a:t>The request is incomplete.</a:t>
            </a:r>
            <a:br/>
            <a:r>
              <a:t>No retrieval is triggered.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4736592"/>
            <a:ext cx="2926079" cy="310896"/>
          </a:xfrm>
          <a:prstGeom prst="roundRect">
            <a:avLst/>
          </a:prstGeom>
          <a:solidFill>
            <a:srgbClr val="FFD652"/>
          </a:solidFill>
          <a:ln>
            <a:solidFill>
              <a:srgbClr val="FFD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4750307"/>
            <a:ext cx="29260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OBSERVABLE IN STREAMLIT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1828800"/>
            <a:ext cx="3474720" cy="3429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99432" y="2084832"/>
            <a:ext cx="566928" cy="566928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17720" y="2194560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0D1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2148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1D3FF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2926080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AB8D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0" y="3246120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Explain FAISS + multi-intent decomposition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4096512"/>
            <a:ext cx="2926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8D2"/>
                </a:solidFill>
                <a:latin typeface="Aptos"/>
              </a:defRPr>
            </a:pPr>
            <a:r>
              <a:t>Two retrieval queries are generated.</a:t>
            </a:r>
            <a:br/>
            <a:r>
              <a:t>Evidence is fused into one grounded answer.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17720" y="4736592"/>
            <a:ext cx="2926079" cy="310896"/>
          </a:xfrm>
          <a:prstGeom prst="roundRect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17720" y="4750307"/>
            <a:ext cx="29260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OBSERVABLE IN STREAMLIT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2440" y="1828800"/>
            <a:ext cx="3474720" cy="34290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348471" y="2084832"/>
            <a:ext cx="566928" cy="566928"/>
          </a:xfrm>
          <a:prstGeom prst="ellipse">
            <a:avLst/>
          </a:prstGeom>
          <a:solidFill>
            <a:srgbClr val="FF4B97"/>
          </a:solidFill>
          <a:ln>
            <a:solidFill>
              <a:srgbClr val="FF4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66760" y="2194560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0D1B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2148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4B97"/>
                </a:solidFill>
                <a:latin typeface="Aptos"/>
              </a:defRPr>
            </a:pPr>
            <a:r>
              <a:t>SUPPRESS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2926080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AB8D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3246120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Thanks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4096512"/>
            <a:ext cx="2926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8D2"/>
                </a:solidFill>
                <a:latin typeface="Aptos"/>
              </a:defRPr>
            </a:pPr>
            <a:r>
              <a:t>Conversational input.</a:t>
            </a:r>
            <a:br/>
            <a:r>
              <a:t>No unnecessary retrieval or generation.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6760" y="4736592"/>
            <a:ext cx="2926079" cy="310896"/>
          </a:xfrm>
          <a:prstGeom prst="roundRect">
            <a:avLst/>
          </a:prstGeom>
          <a:solidFill>
            <a:srgbClr val="FF4B97"/>
          </a:solidFill>
          <a:ln>
            <a:solidFill>
              <a:srgbClr val="FF4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66760" y="4750307"/>
            <a:ext cx="29260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OBSERVABLE IN STREAMLIT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715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9FF"/>
                </a:solidFill>
                <a:latin typeface="Aptos"/>
              </a:defRPr>
            </a:pPr>
            <a:r>
              <a:t>The system decides first — then spends retrieval + generation compute only when useful.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35640" y="64739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AB8D2"/>
                </a:solidFill>
                <a:latin typeface="Aptos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2E27C7-C57B-C58B-388E-2CC81696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103" y="0"/>
            <a:ext cx="7039897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F9BCC-8007-1C71-4A7C-436E7557D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6096000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FD0466-0B60-4E54-FD38-73CFC81CA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488" y="3591686"/>
            <a:ext cx="6096000" cy="31036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B2D1AA-0A28-D3D1-E159-49E845E7C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22553" y="3386475"/>
            <a:ext cx="7875638" cy="34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698480" y="-137160"/>
            <a:ext cx="1737360" cy="1737360"/>
          </a:xfrm>
          <a:prstGeom prst="rtTriangl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28632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84664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0696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2560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8632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84664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0696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6728" y="4846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28632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84664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0696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6728" y="713232"/>
            <a:ext cx="41148" cy="41148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411480" y="5989320"/>
            <a:ext cx="1051560" cy="1051560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" y="6355080"/>
            <a:ext cx="320040" cy="32004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1828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1D3FF"/>
                </a:solidFill>
                <a:latin typeface="Aptos"/>
              </a:defRPr>
            </a:pPr>
            <a:r>
              <a:t>04 • THE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7F9FF"/>
                </a:solidFill>
                <a:latin typeface="Aptos"/>
              </a:defRPr>
            </a:pPr>
            <a:r>
              <a:t>Multi-intent fusion + session refinement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12344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8D2"/>
                </a:solidFill>
                <a:latin typeface="Aptos"/>
              </a:defRPr>
            </a:pPr>
            <a:r>
              <a:t>The answer improves because the system remembers the current session, not because it restarts the conversation.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1828800"/>
            <a:ext cx="5212080" cy="416052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20574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15BFF"/>
                </a:solidFill>
                <a:latin typeface="Aptos"/>
              </a:defRPr>
            </a:pPr>
            <a:r>
              <a:t>ONE NATURAL REQUEST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450592"/>
            <a:ext cx="4434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7F9FF"/>
                </a:solidFill>
                <a:latin typeface="Aptos"/>
              </a:defRPr>
            </a:pPr>
            <a:r>
              <a:t>“Explain FAISS and</a:t>
            </a:r>
            <a:br/>
            <a:r>
              <a:t>multi-intent decomposition”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54680" y="3246120"/>
            <a:ext cx="0" cy="411480"/>
          </a:xfrm>
          <a:prstGeom prst="line">
            <a:avLst/>
          </a:prstGeom>
          <a:ln w="25400">
            <a:solidFill>
              <a:srgbClr val="31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68680" y="3703320"/>
            <a:ext cx="1143000" cy="310896"/>
          </a:xfrm>
          <a:prstGeom prst="roundRect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3717035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QUERY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37307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9FF"/>
                </a:solidFill>
                <a:latin typeface="Aptos"/>
              </a:defRPr>
            </a:pPr>
            <a:r>
              <a:t>Explain FAISS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4160520"/>
            <a:ext cx="1143000" cy="310896"/>
          </a:xfrm>
          <a:prstGeom prst="roundRect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4174235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80D1B"/>
                </a:solidFill>
                <a:latin typeface="Aptos"/>
              </a:defRPr>
            </a:pPr>
            <a:r>
              <a:t>QUERY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41879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9FF"/>
                </a:solidFill>
                <a:latin typeface="Aptos"/>
              </a:defRPr>
            </a:pPr>
            <a:r>
              <a:t>Explain multi-intent decomposition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4754880"/>
            <a:ext cx="4526280" cy="777240"/>
          </a:xfrm>
          <a:prstGeom prst="roundRect">
            <a:avLst/>
          </a:prstGeom>
          <a:solidFill>
            <a:srgbClr val="192644"/>
          </a:solidFill>
          <a:ln>
            <a:solidFill>
              <a:srgbClr val="43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1560" y="4965192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B12C"/>
                </a:solidFill>
                <a:latin typeface="Aptos"/>
              </a:defRPr>
            </a:pPr>
            <a:r>
              <a:t>FAISS results → deduplicate → rank → fuse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80760" y="1828800"/>
            <a:ext cx="5486400" cy="416052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55080" y="20574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4DD97"/>
                </a:solidFill>
                <a:latin typeface="Aptos"/>
              </a:defRPr>
            </a:pPr>
            <a:r>
              <a:t>SESSION-AWARE REFINEMENT</a:t>
            </a:r>
          </a:p>
        </p:txBody>
      </p:sp>
      <p:sp>
        <p:nvSpPr>
          <p:cNvPr id="55" name="Oval 54"/>
          <p:cNvSpPr/>
          <p:nvPr/>
        </p:nvSpPr>
        <p:spPr>
          <a:xfrm>
            <a:off x="6492240" y="2697480"/>
            <a:ext cx="411480" cy="41148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86600" y="2660904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F9FF"/>
                </a:solidFill>
                <a:latin typeface="Aptos"/>
              </a:defRPr>
            </a:pPr>
            <a:r>
              <a:t>Answer v1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3017520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D2"/>
                </a:solidFill>
                <a:latin typeface="Aptos"/>
              </a:defRPr>
            </a:pPr>
            <a:r>
              <a:t>FAISS = vector similarity engine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93408" y="3154680"/>
            <a:ext cx="0" cy="50292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492240" y="3703320"/>
            <a:ext cx="411480" cy="411480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86600" y="3666744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F9FF"/>
                </a:solidFill>
                <a:latin typeface="Aptos"/>
              </a:defRPr>
            </a:pPr>
            <a:r>
              <a:t>New detail arrives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4023360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D2"/>
                </a:solidFill>
                <a:latin typeface="Aptos"/>
              </a:defRPr>
            </a:pPr>
            <a:r>
              <a:t>“Explain how it is used in RAG”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693408" y="4178808"/>
            <a:ext cx="0" cy="502920"/>
          </a:xfrm>
          <a:prstGeom prst="line">
            <a:avLst/>
          </a:prstGeom>
          <a:ln w="2540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492240" y="4727448"/>
            <a:ext cx="411480" cy="411480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86600" y="469087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F9FF"/>
                </a:solidFill>
                <a:latin typeface="Aptos"/>
              </a:defRPr>
            </a:pPr>
            <a:r>
              <a:t>Answer v2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5047488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D2"/>
                </a:solidFill>
                <a:latin typeface="Aptos"/>
              </a:defRPr>
            </a:pPr>
            <a:r>
              <a:t>Same session → sharper RAG-specific answer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35640" y="64739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AB8D2"/>
                </a:solidFill>
                <a:latin typeface="Aptos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698480" y="-137160"/>
            <a:ext cx="1737360" cy="1737360"/>
          </a:xfrm>
          <a:prstGeom prst="rtTriangl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2560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28632" y="2560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84664" y="2560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0696" y="2560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96728" y="2560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4846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8632" y="4846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84664" y="4846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0696" y="4846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6728" y="4846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7132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28632" y="7132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84664" y="7132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40696" y="7132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6728" y="713232"/>
            <a:ext cx="41148" cy="41148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411480" y="5989320"/>
            <a:ext cx="1051560" cy="1051560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" y="6355080"/>
            <a:ext cx="320040" cy="320040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1737360"/>
            <a:ext cx="731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1828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27432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1D3FF"/>
                </a:solidFill>
                <a:latin typeface="Aptos"/>
              </a:defRPr>
            </a:pPr>
            <a:r>
              <a:t>05 • VALIDATION &amp; 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7F9FF"/>
                </a:solidFill>
                <a:latin typeface="Aptos"/>
              </a:defRPr>
            </a:pPr>
            <a:r>
              <a:t>What works now — and what remains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12344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8D2"/>
                </a:solidFill>
                <a:latin typeface="Aptos"/>
              </a:defRPr>
            </a:pPr>
            <a:r>
              <a:t>The prototype is locally runnable, demonstrable, and packaged for the hackathon workflow.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1828800"/>
            <a:ext cx="5623560" cy="406908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20574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4DD97"/>
                </a:solidFill>
                <a:latin typeface="Aptos"/>
              </a:defRPr>
            </a:pPr>
            <a:r>
              <a:t>LOCAL VALIDATION</a:t>
            </a:r>
          </a:p>
        </p:txBody>
      </p:sp>
      <p:sp>
        <p:nvSpPr>
          <p:cNvPr id="43" name="Oval 42"/>
          <p:cNvSpPr/>
          <p:nvPr/>
        </p:nvSpPr>
        <p:spPr>
          <a:xfrm>
            <a:off x="896112" y="2542032"/>
            <a:ext cx="310896" cy="310896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6112" y="2587751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80D1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9888" y="2551175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F"/>
                </a:solidFill>
                <a:latin typeface="Aptos"/>
              </a:defRPr>
            </a:pPr>
            <a:r>
              <a:t>WAIT / RETRIEVE / SUPPRESS</a:t>
            </a:r>
          </a:p>
        </p:txBody>
      </p:sp>
      <p:sp>
        <p:nvSpPr>
          <p:cNvPr id="46" name="Oval 45"/>
          <p:cNvSpPr/>
          <p:nvPr/>
        </p:nvSpPr>
        <p:spPr>
          <a:xfrm>
            <a:off x="896112" y="3044952"/>
            <a:ext cx="310896" cy="310896"/>
          </a:xfrm>
          <a:prstGeom prst="ellipse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6112" y="309067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80D1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9888" y="3054096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F"/>
                </a:solidFill>
                <a:latin typeface="Aptos"/>
              </a:defRPr>
            </a:pPr>
            <a:r>
              <a:t>Multi-intent decomposition</a:t>
            </a:r>
          </a:p>
        </p:txBody>
      </p:sp>
      <p:sp>
        <p:nvSpPr>
          <p:cNvPr id="49" name="Oval 48"/>
          <p:cNvSpPr/>
          <p:nvPr/>
        </p:nvSpPr>
        <p:spPr>
          <a:xfrm>
            <a:off x="896112" y="3547872"/>
            <a:ext cx="310896" cy="310896"/>
          </a:xfrm>
          <a:prstGeom prst="ellipse">
            <a:avLst/>
          </a:prstGeom>
          <a:solidFill>
            <a:srgbClr val="FFB12C"/>
          </a:solidFill>
          <a:ln>
            <a:solidFill>
              <a:srgbClr val="FFB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3593591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80D1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9888" y="3557015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F"/>
                </a:solidFill>
                <a:latin typeface="Aptos"/>
              </a:defRPr>
            </a:pPr>
            <a:r>
              <a:t>FAISS retrieval + evidence fusion</a:t>
            </a:r>
          </a:p>
        </p:txBody>
      </p:sp>
      <p:sp>
        <p:nvSpPr>
          <p:cNvPr id="52" name="Oval 51"/>
          <p:cNvSpPr/>
          <p:nvPr/>
        </p:nvSpPr>
        <p:spPr>
          <a:xfrm>
            <a:off x="896112" y="4050791"/>
            <a:ext cx="310896" cy="310896"/>
          </a:xfrm>
          <a:prstGeom prst="ellipse">
            <a:avLst/>
          </a:prstGeom>
          <a:solidFill>
            <a:srgbClr val="44DD97"/>
          </a:solidFill>
          <a:ln>
            <a:solidFill>
              <a:srgbClr val="44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6112" y="4096511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80D1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9888" y="4059935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F"/>
                </a:solidFill>
                <a:latin typeface="Aptos"/>
              </a:defRPr>
            </a:pPr>
            <a:r>
              <a:t>Grounded [E#] citations</a:t>
            </a:r>
          </a:p>
        </p:txBody>
      </p:sp>
      <p:sp>
        <p:nvSpPr>
          <p:cNvPr id="55" name="Oval 54"/>
          <p:cNvSpPr/>
          <p:nvPr/>
        </p:nvSpPr>
        <p:spPr>
          <a:xfrm>
            <a:off x="896112" y="4553712"/>
            <a:ext cx="310896" cy="310896"/>
          </a:xfrm>
          <a:prstGeom prst="ellipse">
            <a:avLst/>
          </a:prstGeom>
          <a:solidFill>
            <a:srgbClr val="31D3FF"/>
          </a:solidFill>
          <a:ln>
            <a:solidFill>
              <a:srgbClr val="31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6112" y="459943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80D1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89888" y="4562856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F"/>
                </a:solidFill>
                <a:latin typeface="Aptos"/>
              </a:defRPr>
            </a:pPr>
            <a:r>
              <a:t>Session-aware follow-up</a:t>
            </a:r>
          </a:p>
        </p:txBody>
      </p:sp>
      <p:sp>
        <p:nvSpPr>
          <p:cNvPr id="58" name="Oval 57"/>
          <p:cNvSpPr/>
          <p:nvPr/>
        </p:nvSpPr>
        <p:spPr>
          <a:xfrm>
            <a:off x="896112" y="5056631"/>
            <a:ext cx="310896" cy="310896"/>
          </a:xfrm>
          <a:prstGeom prst="ellipse">
            <a:avLst/>
          </a:prstGeom>
          <a:solidFill>
            <a:srgbClr val="FF4B97"/>
          </a:solidFill>
          <a:ln>
            <a:solidFill>
              <a:srgbClr val="FF4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6112" y="5102351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80D1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9888" y="5065775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F"/>
                </a:solidFill>
                <a:latin typeface="Aptos"/>
              </a:defRPr>
            </a:pPr>
            <a:r>
              <a:t>JSONL telemetry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46520" y="1828800"/>
            <a:ext cx="5120640" cy="1828800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20840" y="205740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B12C"/>
                </a:solidFill>
                <a:latin typeface="Aptos"/>
              </a:defRPr>
            </a:pPr>
            <a:r>
              <a:t>BEFORE FINAL SUBMISSION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2487168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7F9FF"/>
                </a:solidFill>
                <a:latin typeface="Aptos"/>
              </a:defRPr>
            </a:pPr>
            <a:r>
              <a:t>• Replace temporary demo corpus with the official corpus</a:t>
            </a:r>
            <a:br/>
            <a:r>
              <a:t>• Rebuild FAISS index</a:t>
            </a:r>
            <a:br/>
            <a:r>
              <a:t>• Run benchmark on the official corpus</a:t>
            </a:r>
            <a:br/>
            <a:r>
              <a:t>• Record ≤5 min demo video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46520" y="3913632"/>
            <a:ext cx="5120640" cy="1984248"/>
          </a:xfrm>
          <a:prstGeom prst="roundRect">
            <a:avLst/>
          </a:prstGeom>
          <a:solidFill>
            <a:srgbClr val="131C35"/>
          </a:solidFill>
          <a:ln>
            <a:solidFill>
              <a:srgbClr val="2E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720840" y="4133087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1D3FF"/>
                </a:solidFill>
                <a:latin typeface="Aptos"/>
              </a:defRPr>
            </a:pPr>
            <a:r>
              <a:t>SUBMISSION PACKAGE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4553712"/>
            <a:ext cx="4480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9FF"/>
                </a:solidFill>
                <a:latin typeface="Aptos"/>
              </a:defRPr>
            </a:pPr>
            <a:r>
              <a:t>README.md  •  requirements.txt</a:t>
            </a:r>
            <a:br/>
            <a:r>
              <a:t>Source code  •  PPT  •  Demo video</a:t>
            </a:r>
            <a:br/>
            <a:r>
              <a:t>AI disclosure  •  Git tag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20840" y="5394960"/>
            <a:ext cx="4297680" cy="310896"/>
          </a:xfrm>
          <a:prstGeom prst="roundRect">
            <a:avLst/>
          </a:prstGeom>
          <a:solidFill>
            <a:srgbClr val="915BFF"/>
          </a:solidFill>
          <a:ln>
            <a:solidFill>
              <a:srgbClr val="91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720840" y="5408676"/>
            <a:ext cx="4297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7F9FF"/>
                </a:solidFill>
                <a:latin typeface="Aptos"/>
              </a:defRPr>
            </a:pPr>
            <a:r>
              <a:t>PRISM_GENAI_HACKATHON_Y2026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614476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AAB8D2"/>
                </a:solidFill>
                <a:latin typeface="Aptos"/>
              </a:defRPr>
            </a:pPr>
            <a:r>
              <a:t>RETRIEVE EARLY  •  DECOMPOSE SMARTLY  •  ANSWER WITH EVIDENCE  •  REFINE IN SESSION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35640" y="647395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AB8D2"/>
                </a:solidFill>
                <a:latin typeface="Aptos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563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 Makkar</dc:creator>
  <cp:keywords/>
  <dc:description>generated using python-pptx</dc:description>
  <cp:lastModifiedBy>Manish Makkar</cp:lastModifiedBy>
  <cp:revision>2</cp:revision>
  <dcterms:created xsi:type="dcterms:W3CDTF">2013-01-27T09:14:16Z</dcterms:created>
  <dcterms:modified xsi:type="dcterms:W3CDTF">2026-09-30T18:15:11Z</dcterms:modified>
  <cp:category/>
</cp:coreProperties>
</file>